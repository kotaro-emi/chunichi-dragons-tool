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Yu Gothic"/>
              </a:rPr>
              <a:t>中日ドラゴンズの歴史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4612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FB"/>
                </a:solidFill>
                <a:latin typeface="Yu Gothic"/>
              </a:rPr>
              <a:t>球団創設90周年（1936〜2026）　―　名古屋軍からドアラの時代まで</a:t>
            </a:r>
          </a:p>
        </p:txBody>
      </p:sp>
      <p:sp>
        <p:nvSpPr>
          <p:cNvPr id="6" name="Oval 5"/>
          <p:cNvSpPr/>
          <p:nvPr/>
        </p:nvSpPr>
        <p:spPr>
          <a:xfrm>
            <a:off x="10424160" y="82296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03504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8C8E6"/>
                </a:solidFill>
                <a:latin typeface="Yu Gothic"/>
              </a:rPr>
              <a:t>出典：Web上の各種報道・球団公式サイト等の情報をもとに作成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本資料の構成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212080" cy="10515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914400" cy="10515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89888"/>
            <a:ext cx="4023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球団創設と名前の変遷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10512"/>
            <a:ext cx="4023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1936年〜　名古屋軍から中日ドラゴンズへ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280160"/>
            <a:ext cx="5212080" cy="10515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280160"/>
            <a:ext cx="914400" cy="10515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89888"/>
            <a:ext cx="4023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球団史 全体年表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10512"/>
            <a:ext cx="4023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9度のリーグ優勝と主な出来事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14600"/>
            <a:ext cx="5212080" cy="10515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514600"/>
            <a:ext cx="914400" cy="10515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624328"/>
            <a:ext cx="4023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初優勝と日本一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44952"/>
            <a:ext cx="4023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1954年　天知監督・杉下茂の活躍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514600"/>
            <a:ext cx="5212080" cy="10515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2514600"/>
            <a:ext cx="914400" cy="10515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24328"/>
            <a:ext cx="4023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1970〜80年代　打撃のドラゴンズ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044952"/>
            <a:ext cx="4023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強竜打線と落合博満の加入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49040"/>
            <a:ext cx="5212080" cy="10515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49040"/>
            <a:ext cx="914400" cy="10515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58768"/>
            <a:ext cx="4023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落合政権（2004〜2011）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279392"/>
            <a:ext cx="4023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黄金時代・常勝ドラゴンズ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749040"/>
            <a:ext cx="5212080" cy="10515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3749040"/>
            <a:ext cx="914400" cy="10515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858768"/>
            <a:ext cx="4023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2012年以降の低迷期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279392"/>
            <a:ext cx="4023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監督交代の歴史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983480"/>
            <a:ext cx="5212080" cy="10515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83480"/>
            <a:ext cx="914400" cy="10515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093208"/>
            <a:ext cx="4023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成績不振下での観客動員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513832"/>
            <a:ext cx="4023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人気と成績の分離現象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983480"/>
            <a:ext cx="5212080" cy="10515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4983480"/>
            <a:ext cx="914400" cy="105156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093208"/>
            <a:ext cx="402336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通算タイトルとまとめ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513832"/>
            <a:ext cx="4023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球団基礎データ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球団創設と名前の変遷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1936年、新愛知新聞社（現・中日新聞社）が「名古屋軍」を結成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47518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Yu Gothic"/>
              </a:rPr>
              <a:t>1936-1943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475188" cy="9144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名古屋軍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07208"/>
            <a:ext cx="1749508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プロ野球創設期からの球団。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現存12球団で巨人・阪神に次ぐ歴史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23828" y="2240280.0"/>
            <a:ext cx="109728" cy="0.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33556" y="1371600"/>
            <a:ext cx="147518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Yu Gothic"/>
              </a:rPr>
              <a:t>1944-1945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3556" y="1783080"/>
            <a:ext cx="1475188" cy="91440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産業軍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8744" y="2240280.0"/>
            <a:ext cx="109728" cy="0.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8472" y="1371600"/>
            <a:ext cx="147518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Yu Gothic"/>
              </a:rPr>
              <a:t>1946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18472" y="1783080"/>
            <a:ext cx="1475188" cy="9144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中部日本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93660" y="2240280.0"/>
            <a:ext cx="109728" cy="0.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03388" y="1371600"/>
            <a:ext cx="147518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Yu Gothic"/>
              </a:rPr>
              <a:t>1947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388" y="1783080"/>
            <a:ext cx="1475188" cy="91440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中部日本ドラゴンズ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228" y="2807208"/>
            <a:ext cx="1749508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「ドラゴンズ」の名がここで誕生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78576" y="2240280.0"/>
            <a:ext cx="109728" cy="0.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88304" y="1371600"/>
            <a:ext cx="147518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Yu Gothic"/>
              </a:rPr>
              <a:t>1948-1950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88304" y="1783080"/>
            <a:ext cx="1475188" cy="9144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中日ドラゴンズ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63492" y="2240280.0"/>
            <a:ext cx="109728" cy="0.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73220" y="1371600"/>
            <a:ext cx="147518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Yu Gothic"/>
              </a:rPr>
              <a:t>1951-1953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73220" y="1783080"/>
            <a:ext cx="1475188" cy="91440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名古屋ドラゴンズ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48408" y="2240280.0"/>
            <a:ext cx="109728" cy="0.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058136" y="1371600"/>
            <a:ext cx="147518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5A5A"/>
                </a:solidFill>
                <a:latin typeface="Yu Gothic"/>
              </a:rPr>
              <a:t>1954-現在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136" y="1783080"/>
            <a:ext cx="1475188" cy="914400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E66"/>
                </a:solidFill>
                <a:latin typeface="Yu Gothic"/>
              </a:rPr>
              <a:t>中日ドラゴンズ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0976" y="2807208"/>
            <a:ext cx="1749508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以後、現在まで継続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10515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Yu Gothic"/>
              </a:rPr>
              <a:t>創設当初は主力選手の流出などもあり低迷が続き、長らく優勝には手が届かなかった。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球団史 全体年表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リーグ優勝9回・日本一2回の歩み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11277295" cy="38100"/>
          </a:xfrm>
          <a:prstGeom prst="rect">
            <a:avLst/>
          </a:prstGeom>
          <a:solidFill>
            <a:srgbClr val="D9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5700" y="3621023"/>
            <a:ext cx="256032" cy="256032"/>
          </a:xfrm>
          <a:prstGeom prst="ellipse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33171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E0A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初優勝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初日本一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48839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0A01E"/>
                </a:solidFill>
                <a:latin typeface="Yu Gothic"/>
              </a:rPr>
              <a:t>1954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83716.0" y="3566159"/>
            <a:ext cx="0.0" cy="54864"/>
          </a:xfrm>
          <a:prstGeom prst="line">
            <a:avLst/>
          </a:prstGeom>
          <a:ln w="15875">
            <a:solidFill>
              <a:srgbClr val="E0A0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208732" y="3621023"/>
            <a:ext cx="256032" cy="256032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3384" y="397763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2度目の優勝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巨人10連覇阻止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384" y="5230367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4AAD"/>
                </a:solidFill>
                <a:latin typeface="Yu Gothic"/>
              </a:rPr>
              <a:t>1974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6748.0" y="3877055"/>
            <a:ext cx="0.0" cy="100584"/>
          </a:xfrm>
          <a:prstGeom prst="line">
            <a:avLst/>
          </a:prstGeom>
          <a:ln w="15875">
            <a:solidFill>
              <a:srgbClr val="004A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461764" y="3621023"/>
            <a:ext cx="256032" cy="256032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36416" y="233171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強竜打線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で優勝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6416" y="2148839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4AAD"/>
                </a:solidFill>
                <a:latin typeface="Yu Gothic"/>
              </a:rPr>
              <a:t>1982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589780.0" y="3566159"/>
            <a:ext cx="0.0" cy="54864"/>
          </a:xfrm>
          <a:prstGeom prst="line">
            <a:avLst/>
          </a:prstGeom>
          <a:ln w="15875">
            <a:solidFill>
              <a:srgbClr val="004A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14796" y="3621023"/>
            <a:ext cx="256032" cy="256032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9448" y="397763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落合加入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翌年優勝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9448" y="5230367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4AAD"/>
                </a:solidFill>
                <a:latin typeface="Yu Gothic"/>
              </a:rPr>
              <a:t>1988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42812.0" y="3877055"/>
            <a:ext cx="0.0" cy="100584"/>
          </a:xfrm>
          <a:prstGeom prst="line">
            <a:avLst/>
          </a:prstGeom>
          <a:ln w="15875">
            <a:solidFill>
              <a:srgbClr val="004A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967828" y="3621023"/>
            <a:ext cx="256032" cy="256032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42480" y="233171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星野復帰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で優勝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2480" y="2148839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4AAD"/>
                </a:solidFill>
                <a:latin typeface="Yu Gothic"/>
              </a:rPr>
              <a:t>1999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095844.0" y="3566159"/>
            <a:ext cx="0.0" cy="54864"/>
          </a:xfrm>
          <a:prstGeom prst="line">
            <a:avLst/>
          </a:prstGeom>
          <a:ln w="15875">
            <a:solidFill>
              <a:srgbClr val="004A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220860" y="3621023"/>
            <a:ext cx="256032" cy="256032"/>
          </a:xfrm>
          <a:prstGeom prst="ellipse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95512" y="397763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E0A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落合政権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黄金時代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(優勝4回)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5512" y="5230367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0A01E"/>
                </a:solidFill>
                <a:latin typeface="Yu Gothic"/>
              </a:rPr>
              <a:t>2004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0A01E"/>
                </a:solidFill>
                <a:latin typeface="Yu Gothic"/>
              </a:rPr>
              <a:t>-2011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48876.0" y="3877055"/>
            <a:ext cx="0.0" cy="100584"/>
          </a:xfrm>
          <a:prstGeom prst="line">
            <a:avLst/>
          </a:prstGeom>
          <a:ln w="15875">
            <a:solidFill>
              <a:srgbClr val="E0A0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73892" y="3621023"/>
            <a:ext cx="256032" cy="25603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8544" y="233171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53年ぶり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日本一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8544" y="2148839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Yu Gothic"/>
              </a:rPr>
              <a:t>2007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601908.0" y="3566159"/>
            <a:ext cx="0.0" cy="54864"/>
          </a:xfrm>
          <a:prstGeom prst="line">
            <a:avLst/>
          </a:prstGeom>
          <a:ln w="15875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726924" y="3621023"/>
            <a:ext cx="256032" cy="256032"/>
          </a:xfrm>
          <a:prstGeom prst="ellipse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01576" y="397763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低迷期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監督交代続く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1576" y="5230367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Yu Gothic"/>
              </a:rPr>
              <a:t>2012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Yu Gothic"/>
              </a:rPr>
              <a:t>-2024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854940.0" y="3877055"/>
            <a:ext cx="0.0" cy="100584"/>
          </a:xfrm>
          <a:prstGeom prst="line">
            <a:avLst/>
          </a:prstGeom>
          <a:ln w="158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0979956" y="3621023"/>
            <a:ext cx="256032" cy="256032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54608" y="2331719"/>
            <a:ext cx="1106728" cy="123444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井上新体制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E66"/>
                </a:solidFill>
                <a:latin typeface="Yu Gothic"/>
              </a:rPr>
              <a:t>再建へ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54608" y="2148839"/>
            <a:ext cx="1106728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4AAD"/>
                </a:solidFill>
                <a:latin typeface="Yu Gothic"/>
              </a:rPr>
              <a:t>2025-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11107972.0" y="3566159"/>
            <a:ext cx="0.0" cy="54864"/>
          </a:xfrm>
          <a:prstGeom prst="line">
            <a:avLst/>
          </a:prstGeom>
          <a:ln w="15875">
            <a:solidFill>
              <a:srgbClr val="004A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初優勝と日本一（1954年）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創設18年目、天知俊一監督のもとで悲願の初優勝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377440" cy="1188720"/>
          </a:xfrm>
          <a:prstGeom prst="round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Yu Gothic"/>
              </a:rPr>
              <a:t>天知俊一 監督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3108960" cy="2103120"/>
          </a:xfrm>
          <a:prstGeom prst="round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杉下茂投手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「フォークボールの元祖」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32勝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防御率 1.39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奪三振 273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＝投手三冠王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28800"/>
            <a:ext cx="2377440" cy="1188720"/>
          </a:xfrm>
          <a:prstGeom prst="round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日本シリーズ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対 西鉄ライオンズ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杉下 自身3勝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645920"/>
            <a:ext cx="1920240" cy="1554480"/>
          </a:xfrm>
          <a:prstGeom prst="round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B2E66"/>
                </a:solidFill>
                <a:latin typeface="Yu Gothic"/>
              </a:rPr>
              <a:t>球団初の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B2E66"/>
                </a:solidFill>
                <a:latin typeface="Yu Gothic"/>
              </a:rPr>
              <a:t>日本一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423160"/>
            <a:ext cx="457200" cy="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92240" y="2423160"/>
            <a:ext cx="457200" cy="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6880" y="2423160"/>
            <a:ext cx="365760" cy="0"/>
          </a:xfrm>
          <a:prstGeom prst="line">
            <a:avLst/>
          </a:prstGeom>
          <a:ln w="38100">
            <a:solidFill>
              <a:srgbClr val="004A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杉下茂の圧倒的な投球成績が、リーグ優勝からそのまま日本一まで球団を牽引した。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5A5A"/>
                </a:solidFill>
                <a:latin typeface="Yu Gothic"/>
              </a:rPr>
              <a:t>この後、球団は主力の入れ替わりなどもあり、次の優勝までは20年待つことになる（1974年）。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1970〜80年代　打撃のドラゴンズ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強打者が並んだ「強竜打線」の時代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566160" cy="4114800"/>
          </a:xfrm>
          <a:prstGeom prst="rect">
            <a:avLst/>
          </a:prstGeom>
          <a:solidFill>
            <a:srgbClr val="EFF5FD"/>
          </a:solidFill>
          <a:ln w="1905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566160" cy="5029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5661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Yu Gothic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566160" cy="5029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Yu Gothic"/>
              </a:rPr>
              <a:t>1974年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32004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2度目のリーグ優勝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・二塁手 高木守道 が活躍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・投手 星野仙一 が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 先発とリリーフを兼務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・9連覇中の巨人の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 10連覇を阻止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Yu Gothic"/>
              </a:rPr>
              <a:t>1982年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4114800"/>
          </a:xfrm>
          <a:prstGeom prst="rect">
            <a:avLst/>
          </a:prstGeom>
          <a:solidFill>
            <a:srgbClr val="EFF5FD"/>
          </a:solidFill>
          <a:ln w="1905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Yu Gothic"/>
              </a:rPr>
              <a:t>1982年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11680"/>
            <a:ext cx="32004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「強竜打線」で優勝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・田尾安志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・谷沢健一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・大島康徳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・宇野勝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強打者を並べた攻撃的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チームカラーが今も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語り継がれる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3566160" cy="4114800"/>
          </a:xfrm>
          <a:prstGeom prst="rect">
            <a:avLst/>
          </a:prstGeom>
          <a:solidFill>
            <a:srgbClr val="EFF5FD"/>
          </a:solidFill>
          <a:ln w="19050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3566160" cy="5029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Yu Gothic"/>
              </a:rPr>
              <a:t>1987-88年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80"/>
            <a:ext cx="32004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星野仙一 監督就任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・ロッテから落合博満が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 4番打者としてトレード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 移籍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222"/>
                </a:solidFill>
                <a:latin typeface="Yu Gothic"/>
              </a:rPr>
              <a:t>・1988年、リーグ優勝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87368" y="3429000.0"/>
            <a:ext cx="192024" cy="0.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82128" y="3429000.0"/>
            <a:ext cx="192024" cy="0.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落合政権（2004〜2011年）　黄金時代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現役3度の三冠王・落合博満が監督就任1年目から優勝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291840" cy="201168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Yu Gothic"/>
              </a:rPr>
              <a:t>落合博満 監督</a:t>
            </a:r>
          </a:p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Yu Gothic"/>
              </a:rPr>
              <a:t>就任1年目から</a:t>
            </a:r>
          </a:p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Yu Gothic"/>
              </a:rPr>
              <a:t>リーグ優勝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66160"/>
            <a:ext cx="3291840" cy="1737360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8年間、一度も</a:t>
            </a:r>
          </a:p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Bクラスに落ちず</a:t>
            </a:r>
          </a:p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「常勝ドラゴンズ」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169164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2004 年　リーグ優勝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938528"/>
            <a:ext cx="169164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2006 年　リーグ優勝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505456"/>
            <a:ext cx="169164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2010 年　リーグ優勝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072384"/>
            <a:ext cx="169164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2011 年　リーグ優勝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38100" cy="21579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051560"/>
            <a:ext cx="1691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E66"/>
                </a:solidFill>
                <a:latin typeface="Yu Gothic"/>
              </a:rPr>
              <a:t>リーグ優勝 4回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794760"/>
            <a:ext cx="2468880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2010・2011年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球団史上初のリーグ連覇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371600"/>
            <a:ext cx="4572000" cy="3246120"/>
          </a:xfrm>
          <a:prstGeom prst="rect">
            <a:avLst/>
          </a:prstGeom>
          <a:solidFill>
            <a:srgbClr val="EFF5FD"/>
          </a:solidFill>
          <a:ln w="25400">
            <a:solidFill>
              <a:srgbClr val="E0A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371600"/>
            <a:ext cx="4572000" cy="502920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2007年　特筆すべき日本一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057400"/>
            <a:ext cx="4206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Yu Gothic"/>
              </a:rPr>
              <a:t>・リーグ順位は2位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Yu Gothic"/>
              </a:rPr>
              <a:t>・クライマックスシリーズを勝ち上がり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Yu Gothic"/>
              </a:rPr>
              <a:t> 日本シリーズへ進出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Yu Gothic"/>
              </a:rPr>
              <a:t>・53年ぶりの日本一を達成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222"/>
                </a:solidFill>
                <a:latin typeface="Yu Gothic"/>
              </a:rPr>
              <a:t>・同年のアジアシリーズも制覇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4800600"/>
            <a:ext cx="4572000" cy="82296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Yu Gothic"/>
              </a:rPr>
              <a:t>落合は退任後、2013〜2017年に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Yu Gothic"/>
              </a:rPr>
              <a:t>球団初のGM（ゼネラルマネージャー）も歴任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2012年以降　低迷期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監督交代が続き、Bクラスが定着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714957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Yu Gothic"/>
              </a:rPr>
              <a:t>2012-13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714957" cy="13716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高木守道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監督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1897837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再登板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72157" y="2514600.0"/>
            <a:ext cx="146304" cy="0.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36749" y="1417320"/>
            <a:ext cx="1714957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4AAD"/>
                </a:solidFill>
                <a:latin typeface="Yu Gothic"/>
              </a:rPr>
              <a:t>2014-15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749" y="1828800"/>
            <a:ext cx="1714957" cy="13716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谷繁元信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監督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5309" y="3337560"/>
            <a:ext cx="1897837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選手兼任監督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（1955年 野口明以来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3人目）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51706" y="2514600.0"/>
            <a:ext cx="146304" cy="0.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16298" y="1417320"/>
            <a:ext cx="1714957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Yu Gothic"/>
              </a:rPr>
              <a:t>2016-18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6298" y="1828800"/>
            <a:ext cx="1714957" cy="13716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森繁和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監督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31255" y="2514600.0"/>
            <a:ext cx="146304" cy="0.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95847" y="1417320"/>
            <a:ext cx="1714957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A5A5A"/>
                </a:solidFill>
                <a:latin typeface="Yu Gothic"/>
              </a:rPr>
              <a:t>2019-21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1828800"/>
            <a:ext cx="1714957" cy="13716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与田剛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監督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10804" y="2514600.0"/>
            <a:ext cx="146304" cy="0.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75396" y="1417320"/>
            <a:ext cx="1714957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102E"/>
                </a:solidFill>
                <a:latin typeface="Yu Gothic"/>
              </a:rPr>
              <a:t>2022-24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5396" y="1828800"/>
            <a:ext cx="1714957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立浪和義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監督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3956" y="3337560"/>
            <a:ext cx="1897837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在任3年間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いずれも最下位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90353" y="2514600.0"/>
            <a:ext cx="146304" cy="0.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854945" y="1417320"/>
            <a:ext cx="1714957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0A01E"/>
                </a:solidFill>
                <a:latin typeface="Yu Gothic"/>
              </a:rPr>
              <a:t>2025-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54945" y="1828800"/>
            <a:ext cx="1714957" cy="1371600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2E66"/>
                </a:solidFill>
                <a:latin typeface="Yu Gothic"/>
              </a:rPr>
              <a:t>井上一樹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2E66"/>
                </a:solidFill>
                <a:latin typeface="Yu Gothic"/>
              </a:rPr>
              <a:t>監督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3505" y="3337560"/>
            <a:ext cx="1897837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再建を目指す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222222"/>
                </a:solidFill>
                <a:latin typeface="Yu Gothic"/>
              </a:rPr>
              <a:t>新体制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10515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A5A"/>
                </a:solidFill>
                <a:latin typeface="Yu Gothic"/>
              </a:rPr>
              <a:t>2022〜2024年：立浪和義監督（名選手として知られたが3年連続最下位で退任）　→　2025年〜：井上一樹監督が就任し再建体制へ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成績不振下での観客動員の好調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本拠地バンテリンドームナゴヤは近年、観客動員が増加傾向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1463040" cy="11887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45152"/>
            <a:ext cx="1463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E66"/>
                </a:solidFill>
                <a:latin typeface="Yu Gothic"/>
              </a:rPr>
              <a:t>2023年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286000" y="2926080"/>
            <a:ext cx="457200" cy="45720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0" y="2926080"/>
            <a:ext cx="1463040" cy="164592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645152"/>
            <a:ext cx="1463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E66"/>
                </a:solidFill>
                <a:latin typeface="Yu Gothic"/>
              </a:rPr>
              <a:t>2024年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206240" y="2286000"/>
            <a:ext cx="457200" cy="64008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63440" y="2286000"/>
            <a:ext cx="1463040" cy="2286000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2E66"/>
                </a:solidFill>
                <a:latin typeface="Yu Gothic"/>
              </a:rPr>
              <a:t>球団史上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2E66"/>
                </a:solidFill>
                <a:latin typeface="Yu Gothic"/>
              </a:rPr>
              <a:t>最多クラス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645152"/>
            <a:ext cx="14630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2E66"/>
                </a:solidFill>
                <a:latin typeface="Yu Gothic"/>
              </a:rPr>
              <a:t>2025年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72000"/>
            <a:ext cx="5577840" cy="31750"/>
          </a:xfrm>
          <a:prstGeom prst="rect">
            <a:avLst/>
          </a:prstGeom>
          <a:solidFill>
            <a:srgbClr val="D9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E66"/>
                </a:solidFill>
                <a:latin typeface="Yu Gothic"/>
              </a:rPr>
              <a:t>主催試合 観客動員数の推移（年々増加）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737360"/>
            <a:ext cx="4937760" cy="329184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737360"/>
            <a:ext cx="4937760" cy="502920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2E66"/>
                </a:solidFill>
                <a:latin typeface="Yu Gothic"/>
              </a:rPr>
              <a:t>2025年シーズン実績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23160"/>
            <a:ext cx="45720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Yu Gothic"/>
              </a:rPr>
              <a:t>252万人 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004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D9E8FB"/>
                </a:solidFill>
                <a:latin typeface="Yu Gothic"/>
              </a:rPr>
              <a:t>主催試合 観客動員数（球団史上最多クラス）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94760"/>
            <a:ext cx="45720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Yu Gothic"/>
              </a:rPr>
              <a:t>1試合平均 3万5000人 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222"/>
                </a:solidFill>
                <a:latin typeface="Yu Gothic"/>
              </a:rPr>
              <a:t>2026年シーズンも同水準以上のペースで推移。「成績と人気が必ずしも連動しない」状況が話題に。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通算タイトルと球団基礎データ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球団創設90周年（2026年）を迎えて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566160" cy="155448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リーグ優勝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通算 9 回</a:t>
            </a:r>
          </a:p>
          <a:p>
            <a:pPr algn="ctr"/>
            <a:r>
              <a:rPr sz="950">
                <a:solidFill>
                  <a:srgbClr val="D9E8FB"/>
                </a:solidFill>
                <a:latin typeface="Yu Gothic"/>
              </a:rPr>
              <a:t>1954/1974/1982/1988/1999/2004/2006/2010/2011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371600"/>
            <a:ext cx="3566160" cy="1554480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2E66"/>
                </a:solidFill>
                <a:latin typeface="Yu Gothic"/>
              </a:rPr>
              <a:t>日本シリーズ制覇</a:t>
            </a:r>
          </a:p>
          <a:p>
            <a:pPr algn="ctr"/>
            <a:r>
              <a:rPr sz="2600" b="1">
                <a:solidFill>
                  <a:srgbClr val="0B2E66"/>
                </a:solidFill>
                <a:latin typeface="Yu Gothic"/>
              </a:rPr>
              <a:t>通算 2 回</a:t>
            </a:r>
          </a:p>
          <a:p>
            <a:pPr algn="ctr"/>
            <a:r>
              <a:rPr sz="1100">
                <a:solidFill>
                  <a:srgbClr val="0B2E66"/>
                </a:solidFill>
                <a:latin typeface="Yu Gothic"/>
              </a:rPr>
              <a:t>1954年 ／ 2007年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371600"/>
            <a:ext cx="3566160" cy="155448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2026年</a:t>
            </a:r>
          </a:p>
          <a:p>
            <a:pPr algn="ctr"/>
            <a:r>
              <a:rPr sz="2000" b="1">
                <a:solidFill>
                  <a:srgbClr val="E0A01E"/>
                </a:solidFill>
                <a:latin typeface="Yu Gothic"/>
              </a:rPr>
              <a:t>球団創設 90周年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Yu Gothic"/>
              </a:rPr>
              <a:t>節目のシーズン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00400"/>
            <a:ext cx="2651760" cy="274320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265176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265176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本拠地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2377440" cy="2011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>バンテリンドーム ナゴヤ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>（名古屋市東区）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>二軍：ナゴヤ球場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>（名古屋市中川区）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200400"/>
            <a:ext cx="2651760" cy="274320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200400"/>
            <a:ext cx="265176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3200400"/>
            <a:ext cx="265176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運営母体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94760"/>
            <a:ext cx="2377440" cy="2011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>株式会社中日新聞社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200400"/>
            <a:ext cx="2651760" cy="274320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200400"/>
            <a:ext cx="265176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200400"/>
            <a:ext cx="265176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チームカラー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794760"/>
            <a:ext cx="2377440" cy="2011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>ブルー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200400"/>
            <a:ext cx="2651760" cy="2743200"/>
          </a:xfrm>
          <a:prstGeom prst="rect">
            <a:avLst/>
          </a:prstGeom>
          <a:solidFill>
            <a:srgbClr val="EFF5FD"/>
          </a:solidFill>
          <a:ln w="15875">
            <a:solidFill>
              <a:srgbClr val="004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3200400"/>
            <a:ext cx="265176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200400"/>
            <a:ext cx="2651760" cy="457200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Yu Gothic"/>
              </a:rPr>
              <a:t>公式マスコット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794760"/>
            <a:ext cx="2377440" cy="2011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>ドアラ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222222"/>
                </a:solidFill>
                <a:latin typeface="Yu Gothic"/>
              </a:rPr>
              <a:t>（1994年〜登場）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8FB"/>
                </a:solidFill>
                <a:latin typeface="Yu Gothic"/>
              </a:rPr>
              <a:t>90年の歴史が示すもの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828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B2E66"/>
                </a:solidFill>
                <a:latin typeface="Yu Gothic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5A5A"/>
                </a:solidFill>
                <a:latin typeface="Yu Gothic"/>
              </a:rP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371600"/>
            <a:ext cx="548640" cy="777240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371600"/>
            <a:ext cx="10332720" cy="77724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426464"/>
            <a:ext cx="2743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E66"/>
                </a:solidFill>
                <a:latin typeface="Yu Gothic"/>
              </a:rPr>
              <a:t>長い歴史と伝統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426464"/>
            <a:ext cx="7315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1936年創設。現存12球団で巨人・阪神に次ぐ3番目の歴史を持つ名門球団。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304288"/>
            <a:ext cx="548640" cy="777240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2304288"/>
            <a:ext cx="10332720" cy="77724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359152"/>
            <a:ext cx="2743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E66"/>
                </a:solidFill>
                <a:latin typeface="Yu Gothic"/>
              </a:rPr>
              <a:t>波のある成績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59152"/>
            <a:ext cx="7315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1954年の初優勝以降、黄金期（1980年代・2004〜2011年落合政権）と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低迷期を繰り返してきた。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236976"/>
            <a:ext cx="548640" cy="777240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236976"/>
            <a:ext cx="10332720" cy="77724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291840"/>
            <a:ext cx="2743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E66"/>
                </a:solidFill>
                <a:latin typeface="Yu Gothic"/>
              </a:rPr>
              <a:t>落合政権が球団史の頂点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91840"/>
            <a:ext cx="7315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8年間Bクラスなし、リーグ優勝4回、2007年には53年ぶりの日本一。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「常勝ドラゴンズ」と称された。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169664"/>
            <a:ext cx="548640" cy="777240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4169664"/>
            <a:ext cx="10332720" cy="77724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24528"/>
            <a:ext cx="2743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E66"/>
                </a:solidFill>
                <a:latin typeface="Yu Gothic"/>
              </a:rPr>
              <a:t>2012年以降は再建局面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224528"/>
            <a:ext cx="7315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監督交代が続きBクラスが定着。2025年から井上一樹新監督のもと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再建を目指す。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5102352"/>
            <a:ext cx="548640" cy="777240"/>
          </a:xfrm>
          <a:prstGeom prst="ellipse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5102352"/>
            <a:ext cx="10332720" cy="777240"/>
          </a:xfrm>
          <a:prstGeom prst="rect">
            <a:avLst/>
          </a:prstGeom>
          <a:solidFill>
            <a:srgbClr val="EFF5FD"/>
          </a:solidFill>
          <a:ln w="12700">
            <a:solidFill>
              <a:srgbClr val="D9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157216"/>
            <a:ext cx="2743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E66"/>
                </a:solidFill>
                <a:latin typeface="Yu Gothic"/>
              </a:rPr>
              <a:t>成績不振でも高い人気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157216"/>
            <a:ext cx="73152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2025年は観客動員252万人超と球団史上最多クラスを記録。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Yu Gothic"/>
              </a:rPr>
              <a:t>2026年、創設90周年を迎える。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